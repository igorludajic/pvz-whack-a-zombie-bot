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43891200" cy="32918400"/>
  <p:notesSz cx="6858000" cy="9144000"/>
  <p:embeddedFontLst>
    <p:embeddedFont>
      <p:font typeface="Titillium Web" panose="00000500000000000000" pitchFamily="2" charset="0"/>
      <p:regular r:id="rId3"/>
      <p:bold r:id="rId4"/>
      <p:italic r:id="rId5"/>
      <p:boldItalic r:id="rId6"/>
    </p:embeddedFont>
  </p:embeddedFontLst>
  <p:custDataLst>
    <p:tags r:id="rId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5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45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7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34" d="100"/>
          <a:sy n="34" d="100"/>
        </p:scale>
        <p:origin x="1800" y="102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81D505-ABFC-493F-8858-9F27839AE9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230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CFDBA80-68C6-4586-92A4-5A3F769223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1068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17CCD47-6DB2-4B8A-910F-EAB6C45869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1605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5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7618C69-F50A-4456-BD00-30C7E9780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9059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1BE4E77-EB76-40B2-97CB-56BAD62ADA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8900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FD85181-2ED8-4C66-A6CF-2048952760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474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D4797FD-DFC2-4481-9B76-E30C0158C4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950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22DDFC5-19EE-4BC8-86F5-BE1753B3A4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967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2"/>
            <a:ext cx="26335038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8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8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9B3B4E7-A2BC-4B2C-8917-8370A599F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0609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20C972F-CE89-4882-8841-5E4EC18666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712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38" y="1317625"/>
            <a:ext cx="9875837" cy="28089225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9225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7478B96-C558-46F3-BF4C-CB626F7BF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7945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703763">
              <a:defRPr sz="7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8350"/>
            <a:ext cx="13900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4703763">
              <a:defRPr sz="7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9" tIns="235130" rIns="470259" bIns="235130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703763">
              <a:defRPr sz="7300" smtClean="0">
                <a:latin typeface="Arial" pitchFamily="34" charset="0"/>
              </a:defRPr>
            </a:lvl1pPr>
          </a:lstStyle>
          <a:p>
            <a:pPr>
              <a:defRPr/>
            </a:pPr>
            <a:fld id="{16CEF5F2-27D4-42FE-9AE6-E7F0659E0B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4703763" rtl="0" eaLnBrk="0" fontAlgn="base" hangingPunct="0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703763" rtl="0" eaLnBrk="0" fontAlgn="base" hangingPunct="0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2pPr>
      <a:lvl3pPr algn="ctr" defTabSz="4703763" rtl="0" eaLnBrk="0" fontAlgn="base" hangingPunct="0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3pPr>
      <a:lvl4pPr algn="ctr" defTabSz="4703763" rtl="0" eaLnBrk="0" fontAlgn="base" hangingPunct="0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4pPr>
      <a:lvl5pPr algn="ctr" defTabSz="4703763" rtl="0" eaLnBrk="0" fontAlgn="base" hangingPunct="0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5pPr>
      <a:lvl6pPr marL="457200" algn="ctr" defTabSz="4703763" rtl="0" fontAlgn="base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6pPr>
      <a:lvl7pPr marL="914400" algn="ctr" defTabSz="4703763" rtl="0" fontAlgn="base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7pPr>
      <a:lvl8pPr marL="1371600" algn="ctr" defTabSz="4703763" rtl="0" fontAlgn="base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8pPr>
      <a:lvl9pPr marL="1828800" algn="ctr" defTabSz="4703763" rtl="0" fontAlgn="base">
        <a:spcBef>
          <a:spcPct val="0"/>
        </a:spcBef>
        <a:spcAft>
          <a:spcPct val="0"/>
        </a:spcAft>
        <a:defRPr sz="2280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766888" indent="-1766888" algn="l" defTabSz="4703763" rtl="0" eaLnBrk="0" fontAlgn="base" hangingPunct="0">
        <a:spcBef>
          <a:spcPct val="20000"/>
        </a:spcBef>
        <a:spcAft>
          <a:spcPct val="0"/>
        </a:spcAft>
        <a:buChar char="•"/>
        <a:defRPr sz="16400">
          <a:solidFill>
            <a:schemeClr val="tx1"/>
          </a:solidFill>
          <a:latin typeface="+mn-lt"/>
          <a:ea typeface="+mn-ea"/>
          <a:cs typeface="+mn-cs"/>
        </a:defRPr>
      </a:lvl1pPr>
      <a:lvl2pPr marL="3822700" indent="-1471613" algn="l" defTabSz="4703763" rtl="0" eaLnBrk="0" fontAlgn="base" hangingPunct="0">
        <a:spcBef>
          <a:spcPct val="20000"/>
        </a:spcBef>
        <a:spcAft>
          <a:spcPct val="0"/>
        </a:spcAft>
        <a:buChar char="–"/>
        <a:defRPr sz="14400">
          <a:solidFill>
            <a:schemeClr val="tx1"/>
          </a:solidFill>
          <a:latin typeface="+mn-lt"/>
        </a:defRPr>
      </a:lvl2pPr>
      <a:lvl3pPr marL="5880100" indent="-1176338" algn="l" defTabSz="4703763" rtl="0" eaLnBrk="0" fontAlgn="base" hangingPunct="0">
        <a:spcBef>
          <a:spcPct val="20000"/>
        </a:spcBef>
        <a:spcAft>
          <a:spcPct val="0"/>
        </a:spcAft>
        <a:buChar char="•"/>
        <a:defRPr sz="12400">
          <a:solidFill>
            <a:schemeClr val="tx1"/>
          </a:solidFill>
          <a:latin typeface="+mn-lt"/>
        </a:defRPr>
      </a:lvl3pPr>
      <a:lvl4pPr marL="8229600" indent="-1174750" algn="l" defTabSz="4703763" rtl="0" eaLnBrk="0" fontAlgn="base" hangingPunct="0">
        <a:spcBef>
          <a:spcPct val="20000"/>
        </a:spcBef>
        <a:spcAft>
          <a:spcPct val="0"/>
        </a:spcAft>
        <a:buChar char="–"/>
        <a:defRPr sz="10400">
          <a:solidFill>
            <a:schemeClr val="tx1"/>
          </a:solidFill>
          <a:latin typeface="+mn-lt"/>
        </a:defRPr>
      </a:lvl4pPr>
      <a:lvl5pPr marL="10580688" indent="-1176338" algn="l" defTabSz="4703763" rtl="0" eaLnBrk="0" fontAlgn="base" hangingPunct="0">
        <a:spcBef>
          <a:spcPct val="20000"/>
        </a:spcBef>
        <a:spcAft>
          <a:spcPct val="0"/>
        </a:spcAft>
        <a:buChar char="»"/>
        <a:defRPr sz="10400">
          <a:solidFill>
            <a:schemeClr val="tx1"/>
          </a:solidFill>
          <a:latin typeface="+mn-lt"/>
        </a:defRPr>
      </a:lvl5pPr>
      <a:lvl6pPr marL="11037888" indent="-1176338" algn="l" defTabSz="4703763" rtl="0" fontAlgn="base">
        <a:spcBef>
          <a:spcPct val="20000"/>
        </a:spcBef>
        <a:spcAft>
          <a:spcPct val="0"/>
        </a:spcAft>
        <a:buChar char="»"/>
        <a:defRPr sz="10400">
          <a:solidFill>
            <a:schemeClr val="tx1"/>
          </a:solidFill>
          <a:latin typeface="+mn-lt"/>
        </a:defRPr>
      </a:lvl6pPr>
      <a:lvl7pPr marL="11495088" indent="-1176338" algn="l" defTabSz="4703763" rtl="0" fontAlgn="base">
        <a:spcBef>
          <a:spcPct val="20000"/>
        </a:spcBef>
        <a:spcAft>
          <a:spcPct val="0"/>
        </a:spcAft>
        <a:buChar char="»"/>
        <a:defRPr sz="10400">
          <a:solidFill>
            <a:schemeClr val="tx1"/>
          </a:solidFill>
          <a:latin typeface="+mn-lt"/>
        </a:defRPr>
      </a:lvl7pPr>
      <a:lvl8pPr marL="11952288" indent="-1176338" algn="l" defTabSz="4703763" rtl="0" fontAlgn="base">
        <a:spcBef>
          <a:spcPct val="20000"/>
        </a:spcBef>
        <a:spcAft>
          <a:spcPct val="0"/>
        </a:spcAft>
        <a:buChar char="»"/>
        <a:defRPr sz="10400">
          <a:solidFill>
            <a:schemeClr val="tx1"/>
          </a:solidFill>
          <a:latin typeface="+mn-lt"/>
        </a:defRPr>
      </a:lvl8pPr>
      <a:lvl9pPr marL="12409488" indent="-1176338" algn="l" defTabSz="4703763" rtl="0" fontAlgn="base">
        <a:spcBef>
          <a:spcPct val="20000"/>
        </a:spcBef>
        <a:spcAft>
          <a:spcPct val="0"/>
        </a:spcAft>
        <a:buChar char="»"/>
        <a:defRPr sz="10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533400" y="537704"/>
            <a:ext cx="42824400" cy="6024497"/>
          </a:xfrm>
          <a:prstGeom prst="roundRect">
            <a:avLst/>
          </a:prstGeom>
          <a:solidFill>
            <a:srgbClr val="2A4A70"/>
          </a:solidFill>
          <a:ln>
            <a:noFill/>
          </a:ln>
        </p:spPr>
        <p:txBody>
          <a:bodyPr lIns="205740" tIns="102870" rIns="205740" bIns="102870" anchor="ctr"/>
          <a:lstStyle>
            <a:defPPr>
              <a:defRPr kern="1200"/>
            </a:defPPr>
          </a:lstStyle>
          <a:p>
            <a:pPr algn="ctr" defTabSz="4703763">
              <a:lnSpc>
                <a:spcPct val="90000"/>
              </a:lnSpc>
            </a:pPr>
            <a:endParaRPr lang="en-US" sz="4900" i="1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264D35B-B8F4-4A85-9FEE-EA091C5FF1BF}"/>
              </a:ext>
            </a:extLst>
          </p:cNvPr>
          <p:cNvSpPr txBox="1"/>
          <p:nvPr/>
        </p:nvSpPr>
        <p:spPr>
          <a:xfrm>
            <a:off x="3657600" y="1033005"/>
            <a:ext cx="36576000" cy="29374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sr-Latn-RS" sz="8500" b="1" dirty="0">
                <a:solidFill>
                  <a:schemeClr val="bg1"/>
                </a:solidFill>
                <a:latin typeface="+mj-lt"/>
              </a:rPr>
              <a:t>Razvoj autonomnog agenta za mini-igru </a:t>
            </a:r>
            <a:r>
              <a:rPr lang="en-US" sz="8500" b="1" dirty="0">
                <a:solidFill>
                  <a:schemeClr val="bg1"/>
                </a:solidFill>
                <a:latin typeface="+mj-lt"/>
              </a:rPr>
              <a:t>“</a:t>
            </a:r>
            <a:r>
              <a:rPr lang="sr-Latn-RS" sz="8500" b="1" dirty="0">
                <a:solidFill>
                  <a:schemeClr val="bg1"/>
                </a:solidFill>
                <a:latin typeface="+mj-lt"/>
              </a:rPr>
              <a:t>Whack-a-Zombie</a:t>
            </a:r>
            <a:r>
              <a:rPr lang="en-US" sz="8500" b="1" dirty="0">
                <a:solidFill>
                  <a:schemeClr val="bg1"/>
                </a:solidFill>
                <a:latin typeface="+mj-lt"/>
              </a:rPr>
              <a:t>”</a:t>
            </a:r>
            <a:r>
              <a:rPr lang="sr-Latn-RS" sz="8500" b="1" dirty="0">
                <a:solidFill>
                  <a:schemeClr val="bg1"/>
                </a:solidFill>
                <a:latin typeface="+mj-lt"/>
              </a:rPr>
              <a:t> u Plants vs Zombies-u korišćenjem računarskog vida i heurističkih algoritama</a:t>
            </a:r>
            <a:endParaRPr lang="en-US" sz="85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D235A1B-42BF-4F24-80BC-47A0B3B251F1}"/>
              </a:ext>
            </a:extLst>
          </p:cNvPr>
          <p:cNvSpPr txBox="1"/>
          <p:nvPr/>
        </p:nvSpPr>
        <p:spPr>
          <a:xfrm>
            <a:off x="3657600" y="4234536"/>
            <a:ext cx="36576000" cy="17235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sr-Latn-RS" sz="5600" dirty="0">
                <a:solidFill>
                  <a:schemeClr val="bg1"/>
                </a:solidFill>
                <a:latin typeface="+mj-lt"/>
                <a:cs typeface="Arial" pitchFamily="34" charset="0"/>
              </a:rPr>
              <a:t>Igor Ludajić RA 46/2022</a:t>
            </a:r>
            <a:br>
              <a:rPr lang="sr-Latn-RS" sz="5600" dirty="0">
                <a:solidFill>
                  <a:schemeClr val="bg1"/>
                </a:solidFill>
                <a:latin typeface="+mj-lt"/>
                <a:cs typeface="Arial" pitchFamily="34" charset="0"/>
              </a:rPr>
            </a:br>
            <a:r>
              <a:rPr lang="sr-Latn-RS" sz="5600" dirty="0">
                <a:solidFill>
                  <a:schemeClr val="bg1"/>
                </a:solidFill>
                <a:latin typeface="+mj-lt"/>
                <a:cs typeface="Arial" pitchFamily="34" charset="0"/>
              </a:rPr>
              <a:t>Fakultet tehničkih nauka u Novom Sadu</a:t>
            </a:r>
            <a:endParaRPr lang="en-US" sz="56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259D497-80B4-4EAC-8538-8496595AA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8883257"/>
            <a:ext cx="9601200" cy="4821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Ovaj rad prikazuje implementaciju inteligentnog softverskog agenta sposobnog za autonomno igranje igre </a:t>
            </a:r>
            <a:r>
              <a:rPr lang="en-US" sz="2800" dirty="0">
                <a:latin typeface="Titillium Web" panose="00000500000000000000" pitchFamily="2" charset="0"/>
                <a:cs typeface="Arial" pitchFamily="34" charset="0"/>
              </a:rPr>
              <a:t>“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Whack-a-Zombie</a:t>
            </a:r>
            <a:r>
              <a:rPr lang="en-US" sz="2800" dirty="0">
                <a:latin typeface="Titillium Web" panose="00000500000000000000" pitchFamily="2" charset="0"/>
                <a:cs typeface="Arial" pitchFamily="34" charset="0"/>
              </a:rPr>
              <a:t>”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 mini-igre u realnom vremenu. Sistem kombinuje YOLOv8 model dubokog učenja za detekciju objekata (zombija i prepreka) i algoritme zasnovane na HSV filtriranju za sakupljanje resursa. Logika agenta se oslanja na heuristike kao što su prioritizacija pretnji, predikcija kretanja i dinamičko upravljanje brzinom akcija. Rezultati pokazuju izuzetnu preciznost detekcije i visoku stopu pobeda demonstrirajući efikasnost hibridnog pristupa u automatizaciji video igara.</a:t>
            </a:r>
            <a:endParaRPr lang="en-US" sz="2800" dirty="0">
              <a:latin typeface="Titillium Web" panose="00000500000000000000" pitchFamily="2" charset="0"/>
              <a:cs typeface="Arial" pitchFamily="34" charset="0"/>
            </a:endParaRP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DCB5B9DC-AFC8-48DD-8E5A-79F4EB3B3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760" y="8883257"/>
            <a:ext cx="9601200" cy="11255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Arhitektura sistema se sastoji iz 3 glavna modula: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Navigacija:</a:t>
            </a:r>
          </a:p>
          <a:p>
            <a:pPr marL="914400" lvl="1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Deterministička navigacija prilikom započinjanja igre, i završavanja igre.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Percepcija (Computer Vision):</a:t>
            </a:r>
          </a:p>
          <a:p>
            <a:pPr marL="914400" lvl="1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YOLOv8 Nano: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Treniran na prilagođenom skupu podataka za detekciju klasa: zombie, conehead, buckethead, damaged_buckethead, grave, gravebuster</a:t>
            </a:r>
          </a:p>
          <a:p>
            <a:pPr marL="914400" lvl="1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HSV filtriranje: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Korišćeno za detekciju Sunca zbog njegove specifične boje i uveden kriterijum veličine zbog false positives.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Logika odlučivanja:</a:t>
            </a:r>
          </a:p>
          <a:p>
            <a:pPr marL="914400" lvl="1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Striktno levi prioritet: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U kritičnim situacijama, agent ignoriše blizinu miša i striktno eliminiše pretnje najlevlje na ekranu (da ne bi izgubio)</a:t>
            </a:r>
          </a:p>
          <a:p>
            <a:pPr marL="914400" lvl="1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Dinamičan batching: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Sistem dinamički prilagođava veličinu grupe meta i pauze između klikova u zavisnosti od broja neprijatelja na ekranu</a:t>
            </a:r>
            <a:r>
              <a:rPr lang="en-US" sz="2800" dirty="0">
                <a:latin typeface="Titillium Web" panose="00000500000000000000" pitchFamily="2" charset="0"/>
                <a:cs typeface="Arial" pitchFamily="34" charset="0"/>
              </a:rPr>
              <a:t>.</a:t>
            </a:r>
          </a:p>
          <a:p>
            <a:pPr marL="914400" lvl="1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Titillium Web" panose="00000500000000000000" pitchFamily="2" charset="0"/>
                <a:cs typeface="Arial" pitchFamily="34" charset="0"/>
              </a:rPr>
              <a:t>Prediktivno</a:t>
            </a:r>
            <a:r>
              <a:rPr lang="en-US" sz="2800" b="1" dirty="0">
                <a:latin typeface="Titillium Web" panose="00000500000000000000" pitchFamily="2" charset="0"/>
                <a:cs typeface="Arial" pitchFamily="34" charset="0"/>
              </a:rPr>
              <a:t> </a:t>
            </a:r>
            <a:r>
              <a:rPr lang="en-US" sz="2800" b="1" dirty="0" err="1">
                <a:latin typeface="Titillium Web" panose="00000500000000000000" pitchFamily="2" charset="0"/>
                <a:cs typeface="Arial" pitchFamily="34" charset="0"/>
              </a:rPr>
              <a:t>pomeranje</a:t>
            </a:r>
            <a:r>
              <a:rPr lang="en-US" sz="2800" b="1" dirty="0">
                <a:latin typeface="Titillium Web" panose="00000500000000000000" pitchFamily="2" charset="0"/>
                <a:cs typeface="Arial" pitchFamily="34" charset="0"/>
              </a:rPr>
              <a:t> </a:t>
            </a:r>
            <a:r>
              <a:rPr lang="en-US" sz="2800" b="1" dirty="0" err="1">
                <a:latin typeface="Titillium Web" panose="00000500000000000000" pitchFamily="2" charset="0"/>
                <a:cs typeface="Arial" pitchFamily="34" charset="0"/>
              </a:rPr>
              <a:t>kursora</a:t>
            </a:r>
            <a:r>
              <a:rPr lang="en-US" sz="2800" b="1" dirty="0">
                <a:latin typeface="Titillium Web" panose="00000500000000000000" pitchFamily="2" charset="0"/>
                <a:cs typeface="Arial" pitchFamily="34" charset="0"/>
              </a:rPr>
              <a:t>: </a:t>
            </a:r>
            <a:r>
              <a:rPr lang="en-US" sz="2800" dirty="0">
                <a:latin typeface="Titillium Web" panose="00000500000000000000" pitchFamily="2" charset="0"/>
                <a:cs typeface="Arial" pitchFamily="34" charset="0"/>
              </a:rPr>
              <a:t>Ura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čunava se offset za gađanje ispred pokretnih meta kako bi se kompenzovala latencija za obradu slike.</a:t>
            </a:r>
          </a:p>
          <a:p>
            <a:pPr>
              <a:lnSpc>
                <a:spcPct val="110000"/>
              </a:lnSpc>
            </a:pPr>
            <a:br>
              <a:rPr lang="sr-Latn-RS" sz="2400" dirty="0">
                <a:latin typeface="Titillium Web" panose="00000500000000000000" pitchFamily="2" charset="0"/>
                <a:cs typeface="Arial" pitchFamily="34" charset="0"/>
              </a:rPr>
            </a:br>
            <a:br>
              <a:rPr lang="sr-Latn-RS" sz="2400" dirty="0">
                <a:latin typeface="Titillium Web" panose="00000500000000000000" pitchFamily="2" charset="0"/>
                <a:cs typeface="Arial" pitchFamily="34" charset="0"/>
              </a:rPr>
            </a:br>
            <a:endParaRPr lang="en-US" sz="2400" dirty="0">
              <a:latin typeface="Titillium Web" panose="00000500000000000000" pitchFamily="2" charset="0"/>
              <a:cs typeface="Arial" pitchFamily="34" charset="0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9247D261-80E6-4008-A48F-EE2502170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4239" y="8883257"/>
            <a:ext cx="9601200" cy="570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Sistem je testiran na validacionom skupu i u realnom igranju.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Performanse Modela: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Precision: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0.991</a:t>
            </a: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(Pouzdanost detekcije)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Recall: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0.959 (Pokrivenost)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mAP@50: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0.991 (Opšta tačnost modela)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mAP@50-95: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0.844 (Preciznost pozicioniranja)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Uspešnost agenta: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Agent je postigao 100% Win Rate u poslednjoj verziji.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Uspešno eliminiše velike nalete u igri sa minimalnom greškom.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Efikasno sakuplja sunca bez ometanja borbe.</a:t>
            </a:r>
          </a:p>
          <a:p>
            <a:pPr lvl="1" algn="just">
              <a:lnSpc>
                <a:spcPct val="110000"/>
              </a:lnSpc>
            </a:pPr>
            <a:endParaRPr lang="sr-Latn-RS" sz="2400" dirty="0">
              <a:latin typeface="Titillium Web" panose="00000500000000000000" pitchFamily="2" charset="0"/>
              <a:cs typeface="Arial" pitchFamily="34" charset="0"/>
            </a:endParaRP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D6F48894-7BDB-43BE-B25A-3CBBFD463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2721" y="8883257"/>
            <a:ext cx="9601200" cy="3807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Razvijeni agent uspešno demonstrira kako se kombinacijom modernijih tehnika veštačke inteligencije  (YOLO) i robustne proceduralne logike mogu rešiti problemi kontrole u realnom vremenu. Jedan od ključeva uspeha je bio balans između brzine obrade i strateškog pozicioniranja (ignorisanje postavljanja gravebuster-a i sakupljanja sunca ako je previše neprijatelja na ekranu)</a:t>
            </a:r>
          </a:p>
          <a:p>
            <a:pPr algn="just">
              <a:lnSpc>
                <a:spcPct val="110000"/>
              </a:lnSpc>
            </a:pPr>
            <a:endParaRPr lang="sr-Latn-RS" sz="2400" dirty="0">
              <a:latin typeface="Titillium Web" panose="00000500000000000000" pitchFamily="2" charset="0"/>
              <a:cs typeface="Arial" pitchFamily="34" charset="0"/>
            </a:endParaRP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D1DF76C2-CA55-4287-8208-00375EA04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20034293"/>
            <a:ext cx="9601200" cy="576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Automatizacija video igara predstavlja složen problem zbog potrebe za brzom obradom vizuelnih informacija i donošenjem odluka u fragmentima sekunde.</a:t>
            </a:r>
          </a:p>
          <a:p>
            <a:pPr algn="just">
              <a:lnSpc>
                <a:spcPct val="110000"/>
              </a:lnSpc>
            </a:pPr>
            <a:endParaRPr lang="sr-Latn-RS" sz="2800" dirty="0">
              <a:latin typeface="Titillium Web" panose="00000500000000000000" pitchFamily="2" charset="0"/>
              <a:cs typeface="Arial" pitchFamily="34" charset="0"/>
            </a:endParaRP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Cilj: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Razviti bota koji može samostalno da završi nivo bez ljudske intervencije.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Izazovi: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Dinamično okruženje, preklapanje objekata, brze promene stanja igre i potreba za preciznim klikovima kako bi se izbegli neželjeni elementi.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Tehnologije: 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Korišćeni su </a:t>
            </a: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Python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, </a:t>
            </a: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OpenCV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 (za obradu slike), </a:t>
            </a: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YOLOv8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 (za detekciju objekata), </a:t>
            </a: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MSS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 (za hvatanje ekrana) i </a:t>
            </a:r>
            <a:r>
              <a:rPr lang="sr-Latn-RS" sz="2800" b="1" dirty="0">
                <a:latin typeface="Titillium Web" panose="00000500000000000000" pitchFamily="2" charset="0"/>
                <a:cs typeface="Arial" pitchFamily="34" charset="0"/>
              </a:rPr>
              <a:t>PyAutoGUI</a:t>
            </a: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 (za simulaciju miša)</a:t>
            </a:r>
            <a:endParaRPr lang="en-US" sz="2800" b="1" dirty="0">
              <a:latin typeface="Titillium Web" panose="00000500000000000000" pitchFamily="2" charset="0"/>
              <a:cs typeface="Arial" pitchFamily="34" charset="0"/>
            </a:endParaRP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C2BCD34B-62AE-4E64-9D21-E50C4B9B1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2721" y="20034293"/>
            <a:ext cx="9601200" cy="3873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sr-Latn-RS" sz="2800" dirty="0">
                <a:latin typeface="Titillium Web" panose="00000500000000000000" pitchFamily="2" charset="0"/>
                <a:cs typeface="Arial" pitchFamily="34" charset="0"/>
              </a:rPr>
              <a:t>Za dalju optimizaciju bih predložio generalnu optimizaciju pravila jer i dalje ima prostora za napredak, da se uvede sakupljanje drugih resursa na ekranu koji nisu relevatni u samoj mini-igri poput novca, da se uvede korišćenje i preostalih biljaka za dalje olakšanje robotu u samoj igri, dalja optimizacija pokreta cursor-a, uvođenje Reinforcement Learning-a da bi agent mogao sam da nauči optimalnu strategiju umesto korišćenja hard-kodiranih pravila.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61C63D-3456-44FF-9A8C-C609A9A97121}"/>
              </a:ext>
            </a:extLst>
          </p:cNvPr>
          <p:cNvGrpSpPr/>
          <p:nvPr/>
        </p:nvGrpSpPr>
        <p:grpSpPr>
          <a:xfrm>
            <a:off x="33421321" y="18763155"/>
            <a:ext cx="3319522" cy="648259"/>
            <a:chOff x="32576216" y="24123258"/>
            <a:chExt cx="3319522" cy="64825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682A469-0F6C-4CD1-861C-F6138AA1CFF5}"/>
                </a:ext>
              </a:extLst>
            </p:cNvPr>
            <p:cNvSpPr txBox="1"/>
            <p:nvPr/>
          </p:nvSpPr>
          <p:spPr>
            <a:xfrm>
              <a:off x="33033416" y="24123258"/>
              <a:ext cx="2862322" cy="646331"/>
            </a:xfrm>
            <a:prstGeom prst="rect">
              <a:avLst/>
            </a:prstGeom>
            <a:solidFill>
              <a:srgbClr val="EBF7FF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74320" rIns="274320" rtlCol="0">
              <a:spAutoFit/>
            </a:bodyPr>
            <a:lstStyle/>
            <a:p>
              <a:pPr defTabSz="4702588">
                <a:defRPr/>
              </a:pPr>
              <a:r>
                <a:rPr lang="sr-Latn-RS" sz="3600" b="1" dirty="0">
                  <a:solidFill>
                    <a:schemeClr val="accent1"/>
                  </a:solidFill>
                  <a:latin typeface="+mj-lt"/>
                </a:rPr>
                <a:t>PREDLOZI</a:t>
              </a:r>
              <a:endParaRPr lang="en-US" sz="36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3DC2BF-8F6E-4CFF-A885-3D8323D2B705}"/>
                </a:ext>
              </a:extLst>
            </p:cNvPr>
            <p:cNvSpPr/>
            <p:nvPr/>
          </p:nvSpPr>
          <p:spPr bwMode="auto">
            <a:xfrm>
              <a:off x="32576216" y="24125186"/>
              <a:ext cx="457200" cy="64633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7037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9DA6868-859E-4342-976E-822157DE2D15}"/>
              </a:ext>
            </a:extLst>
          </p:cNvPr>
          <p:cNvGrpSpPr/>
          <p:nvPr/>
        </p:nvGrpSpPr>
        <p:grpSpPr>
          <a:xfrm>
            <a:off x="1097280" y="7936247"/>
            <a:ext cx="3514874" cy="646332"/>
            <a:chOff x="619432" y="7936247"/>
            <a:chExt cx="3514874" cy="646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7220CD8-CD1F-4561-B6F6-872F8B351FDE}"/>
                </a:ext>
              </a:extLst>
            </p:cNvPr>
            <p:cNvSpPr txBox="1"/>
            <p:nvPr/>
          </p:nvSpPr>
          <p:spPr>
            <a:xfrm>
              <a:off x="1066800" y="7936248"/>
              <a:ext cx="3067506" cy="646331"/>
            </a:xfrm>
            <a:prstGeom prst="rect">
              <a:avLst/>
            </a:prstGeom>
            <a:solidFill>
              <a:srgbClr val="EBF7FF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74320" rIns="274320" rtlCol="0">
              <a:spAutoFit/>
            </a:bodyPr>
            <a:lstStyle/>
            <a:p>
              <a:pPr defTabSz="4702588">
                <a:defRPr/>
              </a:pPr>
              <a:r>
                <a:rPr lang="sr-Latn-RS" sz="3600" b="1" dirty="0">
                  <a:solidFill>
                    <a:schemeClr val="accent1"/>
                  </a:solidFill>
                  <a:latin typeface="+mj-lt"/>
                </a:rPr>
                <a:t>APSTRAKT</a:t>
              </a:r>
              <a:endParaRPr lang="en-US" sz="36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69B7A80-A037-4811-AA81-3FB99CEB6B45}"/>
                </a:ext>
              </a:extLst>
            </p:cNvPr>
            <p:cNvSpPr/>
            <p:nvPr/>
          </p:nvSpPr>
          <p:spPr bwMode="auto">
            <a:xfrm>
              <a:off x="619432" y="7936247"/>
              <a:ext cx="457200" cy="64633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7037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28E0EA1-F584-4FE4-81F7-2DFD4FB88DA2}"/>
              </a:ext>
            </a:extLst>
          </p:cNvPr>
          <p:cNvGrpSpPr/>
          <p:nvPr/>
        </p:nvGrpSpPr>
        <p:grpSpPr>
          <a:xfrm>
            <a:off x="11795760" y="7936248"/>
            <a:ext cx="4747477" cy="646647"/>
            <a:chOff x="11309555" y="7936248"/>
            <a:chExt cx="4747477" cy="64664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744332-409D-4E13-8004-F1FC2BA8831D}"/>
                </a:ext>
              </a:extLst>
            </p:cNvPr>
            <p:cNvSpPr txBox="1"/>
            <p:nvPr/>
          </p:nvSpPr>
          <p:spPr>
            <a:xfrm>
              <a:off x="11766755" y="7936248"/>
              <a:ext cx="4290277" cy="646331"/>
            </a:xfrm>
            <a:prstGeom prst="rect">
              <a:avLst/>
            </a:prstGeom>
            <a:solidFill>
              <a:srgbClr val="EBF7FF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74320" rIns="274320" rtlCol="0">
              <a:spAutoFit/>
            </a:bodyPr>
            <a:lstStyle/>
            <a:p>
              <a:pPr defTabSz="4702588">
                <a:defRPr/>
              </a:pPr>
              <a:r>
                <a:rPr lang="sr-Latn-RS" sz="3600" b="1" dirty="0">
                  <a:solidFill>
                    <a:schemeClr val="accent1"/>
                  </a:solidFill>
                  <a:latin typeface="+mj-lt"/>
                </a:rPr>
                <a:t>METODOLOGIJA</a:t>
              </a:r>
              <a:endParaRPr lang="en-US" sz="36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2540629-E07F-4524-B7B0-8AD50B9CA383}"/>
                </a:ext>
              </a:extLst>
            </p:cNvPr>
            <p:cNvSpPr/>
            <p:nvPr/>
          </p:nvSpPr>
          <p:spPr bwMode="auto">
            <a:xfrm>
              <a:off x="11309555" y="7936564"/>
              <a:ext cx="457200" cy="64633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7037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FD3D1B1-E282-45AC-A5D2-BF5D46CFDC2A}"/>
              </a:ext>
            </a:extLst>
          </p:cNvPr>
          <p:cNvGrpSpPr/>
          <p:nvPr/>
        </p:nvGrpSpPr>
        <p:grpSpPr>
          <a:xfrm>
            <a:off x="22402800" y="7936248"/>
            <a:ext cx="3468366" cy="676142"/>
            <a:chOff x="21950516" y="7936248"/>
            <a:chExt cx="3468366" cy="67614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A18A5CA-EAF8-4A0C-91E3-652892D85424}"/>
                </a:ext>
              </a:extLst>
            </p:cNvPr>
            <p:cNvSpPr txBox="1"/>
            <p:nvPr/>
          </p:nvSpPr>
          <p:spPr>
            <a:xfrm>
              <a:off x="22402800" y="7936248"/>
              <a:ext cx="3016082" cy="646331"/>
            </a:xfrm>
            <a:prstGeom prst="rect">
              <a:avLst/>
            </a:prstGeom>
            <a:solidFill>
              <a:srgbClr val="EBF7FF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74320" rIns="274320" rtlCol="0">
              <a:spAutoFit/>
            </a:bodyPr>
            <a:lstStyle/>
            <a:p>
              <a:pPr defTabSz="4702588">
                <a:defRPr/>
              </a:pPr>
              <a:r>
                <a:rPr lang="sr-Latn-RS" sz="3600" b="1" dirty="0">
                  <a:solidFill>
                    <a:schemeClr val="accent1"/>
                  </a:solidFill>
                  <a:latin typeface="+mj-lt"/>
                </a:rPr>
                <a:t>REZULTATI</a:t>
              </a:r>
              <a:endParaRPr lang="en-US" sz="36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DBBCF0F-8115-4C70-A694-F428A5C95969}"/>
                </a:ext>
              </a:extLst>
            </p:cNvPr>
            <p:cNvSpPr/>
            <p:nvPr/>
          </p:nvSpPr>
          <p:spPr bwMode="auto">
            <a:xfrm>
              <a:off x="21950516" y="7966059"/>
              <a:ext cx="457200" cy="64633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7037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BB9306F-3280-4FFD-A286-DCBADFD49E3F}"/>
              </a:ext>
            </a:extLst>
          </p:cNvPr>
          <p:cNvGrpSpPr/>
          <p:nvPr/>
        </p:nvGrpSpPr>
        <p:grpSpPr>
          <a:xfrm>
            <a:off x="33192721" y="7936247"/>
            <a:ext cx="3832483" cy="646332"/>
            <a:chOff x="32576216" y="7936247"/>
            <a:chExt cx="3832483" cy="646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486D635-9884-427F-9A27-F0D207FACB9C}"/>
                </a:ext>
              </a:extLst>
            </p:cNvPr>
            <p:cNvSpPr txBox="1"/>
            <p:nvPr/>
          </p:nvSpPr>
          <p:spPr>
            <a:xfrm>
              <a:off x="33033416" y="7936248"/>
              <a:ext cx="3375283" cy="646331"/>
            </a:xfrm>
            <a:prstGeom prst="rect">
              <a:avLst/>
            </a:prstGeom>
            <a:solidFill>
              <a:srgbClr val="EBF7FF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74320" rIns="274320" rtlCol="0">
              <a:spAutoFit/>
            </a:bodyPr>
            <a:lstStyle/>
            <a:p>
              <a:pPr defTabSz="4702588">
                <a:defRPr/>
              </a:pPr>
              <a:r>
                <a:rPr lang="sr-Latn-RS" sz="3600" b="1" dirty="0">
                  <a:solidFill>
                    <a:schemeClr val="accent1"/>
                  </a:solidFill>
                  <a:latin typeface="+mj-lt"/>
                </a:rPr>
                <a:t>ZAKLJUČAK</a:t>
              </a:r>
              <a:endParaRPr lang="en-US" sz="36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702F2A-8E0E-4D1A-A866-FC61F70C5522}"/>
                </a:ext>
              </a:extLst>
            </p:cNvPr>
            <p:cNvSpPr/>
            <p:nvPr/>
          </p:nvSpPr>
          <p:spPr bwMode="auto">
            <a:xfrm>
              <a:off x="32576216" y="7936247"/>
              <a:ext cx="457200" cy="64633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7037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A48DC6E-5C6A-4A57-8A78-B09BE503F40B}"/>
              </a:ext>
            </a:extLst>
          </p:cNvPr>
          <p:cNvGrpSpPr/>
          <p:nvPr/>
        </p:nvGrpSpPr>
        <p:grpSpPr>
          <a:xfrm>
            <a:off x="1097280" y="19087285"/>
            <a:ext cx="2344896" cy="646958"/>
            <a:chOff x="619432" y="19087285"/>
            <a:chExt cx="2344896" cy="64695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AE133AC-1DFE-4D6E-B1A3-31B930A6602E}"/>
                </a:ext>
              </a:extLst>
            </p:cNvPr>
            <p:cNvSpPr txBox="1"/>
            <p:nvPr/>
          </p:nvSpPr>
          <p:spPr>
            <a:xfrm>
              <a:off x="1076632" y="19087285"/>
              <a:ext cx="1887696" cy="646331"/>
            </a:xfrm>
            <a:prstGeom prst="rect">
              <a:avLst/>
            </a:prstGeom>
            <a:solidFill>
              <a:srgbClr val="EBF7FF"/>
            </a:solidFill>
            <a:ln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274320" rIns="274320" rtlCol="0">
              <a:spAutoFit/>
            </a:bodyPr>
            <a:lstStyle/>
            <a:p>
              <a:pPr defTabSz="4702588">
                <a:defRPr/>
              </a:pPr>
              <a:r>
                <a:rPr lang="sr-Latn-RS" sz="3600" b="1" dirty="0">
                  <a:solidFill>
                    <a:schemeClr val="accent1"/>
                  </a:solidFill>
                  <a:latin typeface="+mj-lt"/>
                </a:rPr>
                <a:t>UVOD</a:t>
              </a:r>
              <a:endParaRPr lang="en-US" sz="36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1C45890-5A72-41A6-9C21-8464F46D0E48}"/>
                </a:ext>
              </a:extLst>
            </p:cNvPr>
            <p:cNvSpPr/>
            <p:nvPr/>
          </p:nvSpPr>
          <p:spPr bwMode="auto">
            <a:xfrm>
              <a:off x="619432" y="19087912"/>
              <a:ext cx="457200" cy="64633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7037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pic>
        <p:nvPicPr>
          <p:cNvPr id="11" name="Picture 10" descr="Cartoon zombie with tongue out&#10;&#10;AI-generated content may be incorrect.">
            <a:extLst>
              <a:ext uri="{FF2B5EF4-FFF2-40B4-BE49-F238E27FC236}">
                <a16:creationId xmlns:a16="http://schemas.microsoft.com/office/drawing/2014/main" id="{A0D56EB7-DE68-0F20-BFAE-AA7EFDDFC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4554199"/>
            <a:ext cx="2625664" cy="2207079"/>
          </a:xfrm>
          <a:prstGeom prst="rect">
            <a:avLst/>
          </a:prstGeom>
        </p:spPr>
      </p:pic>
      <p:pic>
        <p:nvPicPr>
          <p:cNvPr id="13" name="Picture 12" descr="Cartoon zombie wearing a hat&#10;&#10;AI-generated content may be incorrect.">
            <a:extLst>
              <a:ext uri="{FF2B5EF4-FFF2-40B4-BE49-F238E27FC236}">
                <a16:creationId xmlns:a16="http://schemas.microsoft.com/office/drawing/2014/main" id="{3BF5F95C-BEE3-B631-4189-12A5B6384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323" y="14554199"/>
            <a:ext cx="1965681" cy="2207079"/>
          </a:xfrm>
          <a:prstGeom prst="rect">
            <a:avLst/>
          </a:prstGeom>
        </p:spPr>
      </p:pic>
      <p:pic>
        <p:nvPicPr>
          <p:cNvPr id="15" name="Picture 14" descr="A cartoon of a zombie with a bucket on his head&#10;&#10;AI-generated content may be incorrect.">
            <a:extLst>
              <a:ext uri="{FF2B5EF4-FFF2-40B4-BE49-F238E27FC236}">
                <a16:creationId xmlns:a16="http://schemas.microsoft.com/office/drawing/2014/main" id="{E8AF0495-E121-9BC9-FA5B-A9753714B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894" y="14554200"/>
            <a:ext cx="2089586" cy="2207079"/>
          </a:xfrm>
          <a:prstGeom prst="rect">
            <a:avLst/>
          </a:prstGeom>
        </p:spPr>
      </p:pic>
      <p:pic>
        <p:nvPicPr>
          <p:cNvPr id="20" name="Picture 19" descr="A cartoon of a money bag&#10;&#10;AI-generated content may be incorrect.">
            <a:extLst>
              <a:ext uri="{FF2B5EF4-FFF2-40B4-BE49-F238E27FC236}">
                <a16:creationId xmlns:a16="http://schemas.microsoft.com/office/drawing/2014/main" id="{2B424635-CB2F-B27C-E2C0-9A0C5E157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5800" y="12622720"/>
            <a:ext cx="5566914" cy="4735072"/>
          </a:xfrm>
          <a:prstGeom prst="rect">
            <a:avLst/>
          </a:prstGeom>
        </p:spPr>
      </p:pic>
      <p:pic>
        <p:nvPicPr>
          <p:cNvPr id="34" name="Picture 3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1D90091-3035-C578-EDEA-69EBCC22C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3023" y="14857201"/>
            <a:ext cx="9276119" cy="7221284"/>
          </a:xfrm>
          <a:prstGeom prst="rect">
            <a:avLst/>
          </a:prstGeom>
        </p:spPr>
      </p:pic>
      <p:pic>
        <p:nvPicPr>
          <p:cNvPr id="43" name="Picture 4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1873407-6079-A744-4678-7A22E98268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4301" y="20438986"/>
            <a:ext cx="9452900" cy="708372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8DD6F15-ED67-FA29-03D6-0574E06568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92646" y="23317200"/>
            <a:ext cx="9336871" cy="7303683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debatingdenim|08-2022"/>
</p:tagLst>
</file>

<file path=ppt/theme/theme1.xml><?xml version="1.0" encoding="utf-8"?>
<a:theme xmlns:a="http://schemas.openxmlformats.org/drawingml/2006/main" name="Default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549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Titillium Web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We offer free PowerPoint poster templates to help you design your very own scientific poster presentation.</dc:description>
  <cp:lastModifiedBy>RA 46/2022 - Ludajić Igor</cp:lastModifiedBy>
  <cp:revision>38</cp:revision>
  <dcterms:modified xsi:type="dcterms:W3CDTF">2026-02-25T16:37:46Z</dcterms:modified>
  <cp:category>templates for scientific poster</cp:category>
</cp:coreProperties>
</file>